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e524a988254902" /><Relationship Type="http://schemas.openxmlformats.org/officeDocument/2006/relationships/extended-properties" Target="/docProps/app.xml" Id="R0d5146dee17349e6" /><Relationship Type="http://schemas.openxmlformats.org/officeDocument/2006/relationships/officeDocument" Target="/ppt/presentation.xml" Id="R7f807aee941a48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f581e479f94547"/>
  </p:sldMasterIdLst>
  <p:notesMasterIdLst>
    <p:notesMasterId xmlns:r="http://schemas.openxmlformats.org/officeDocument/2006/relationships" r:id="R70e0fdc01edd4aa4"/>
  </p:notesMasterIdLst>
  <p:sldIdLst>
    <p:sldId xmlns:r="http://schemas.openxmlformats.org/officeDocument/2006/relationships" id="256" r:id="R3950572ca44f4e6f"/>
    <p:sldId xmlns:r="http://schemas.openxmlformats.org/officeDocument/2006/relationships" id="257" r:id="Ra3f3d720941a4a5d"/>
    <p:sldId xmlns:r="http://schemas.openxmlformats.org/officeDocument/2006/relationships" id="258" r:id="R8e6bf1436a404813"/>
    <p:sldId xmlns:r="http://schemas.openxmlformats.org/officeDocument/2006/relationships" id="259" r:id="Rc5408414d4d14fbf"/>
    <p:sldId xmlns:r="http://schemas.openxmlformats.org/officeDocument/2006/relationships" id="260" r:id="R4013f1bf98a64220"/>
    <p:sldId xmlns:r="http://schemas.openxmlformats.org/officeDocument/2006/relationships" id="261" r:id="R362b7c8dd9734827"/>
    <p:sldId xmlns:r="http://schemas.openxmlformats.org/officeDocument/2006/relationships" id="262" r:id="R7688d2fbaeb94fc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d65463de8341aa" /><Relationship Type="http://schemas.openxmlformats.org/officeDocument/2006/relationships/slideMaster" Target="/ppt/slideMasters/slideMaster1.xml" Id="Rbcf581e479f94547" /><Relationship Type="http://schemas.openxmlformats.org/officeDocument/2006/relationships/notesMaster" Target="/ppt/notesMasters/notesMaster1.xml" Id="R70e0fdc01edd4aa4" /><Relationship Type="http://schemas.openxmlformats.org/officeDocument/2006/relationships/presProps" Target="/ppt/presProps.xml" Id="R881cbb3b767d45a6" /><Relationship Type="http://schemas.openxmlformats.org/officeDocument/2006/relationships/tableStyles" Target="/ppt/tableStyles.xml" Id="Rd7ac568e87524218" /><Relationship Type="http://schemas.openxmlformats.org/officeDocument/2006/relationships/slide" Target="/ppt/slides/slide1.xml" Id="R3950572ca44f4e6f" /><Relationship Type="http://schemas.openxmlformats.org/officeDocument/2006/relationships/slide" Target="/ppt/slides/slide2.xml" Id="Ra3f3d720941a4a5d" /><Relationship Type="http://schemas.openxmlformats.org/officeDocument/2006/relationships/slide" Target="/ppt/slides/slide3.xml" Id="R8e6bf1436a404813" /><Relationship Type="http://schemas.openxmlformats.org/officeDocument/2006/relationships/slide" Target="/ppt/slides/slide4.xml" Id="Rc5408414d4d14fbf" /><Relationship Type="http://schemas.openxmlformats.org/officeDocument/2006/relationships/slide" Target="/ppt/slides/slide5.xml" Id="R4013f1bf98a64220" /><Relationship Type="http://schemas.openxmlformats.org/officeDocument/2006/relationships/slide" Target="/ppt/slides/slide6.xml" Id="R362b7c8dd9734827" /><Relationship Type="http://schemas.openxmlformats.org/officeDocument/2006/relationships/slide" Target="/ppt/slides/slide7.xml" Id="R7688d2fbaeb94f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cf88dd2a81a4f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96f176782a4eed" /><Relationship Type="http://schemas.openxmlformats.org/officeDocument/2006/relationships/notesMaster" Target="/ppt/notesMasters/notesMaster1.xml" Id="R1c2237a14e8547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f98d699e4840b6" /><Relationship Type="http://schemas.openxmlformats.org/officeDocument/2006/relationships/notesMaster" Target="/ppt/notesMasters/notesMaster1.xml" Id="R6749dcc9b47a481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ad122f20f2842fc" /><Relationship Type="http://schemas.openxmlformats.org/officeDocument/2006/relationships/notesMaster" Target="/ppt/notesMasters/notesMaster1.xml" Id="R9e281a2c9a414e2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d0f9de993c949ce" /><Relationship Type="http://schemas.openxmlformats.org/officeDocument/2006/relationships/notesMaster" Target="/ppt/notesMasters/notesMaster1.xml" Id="R6a7ee023c75a4e5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b5d43a594024f86" /><Relationship Type="http://schemas.openxmlformats.org/officeDocument/2006/relationships/notesMaster" Target="/ppt/notesMasters/notesMaster1.xml" Id="Rd4147327ca9546d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aae6cebded7456f" /><Relationship Type="http://schemas.openxmlformats.org/officeDocument/2006/relationships/notesMaster" Target="/ppt/notesMasters/notesMaster1.xml" Id="Rf86ae91d8e37476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c3f06bdeca84b33" /><Relationship Type="http://schemas.openxmlformats.org/officeDocument/2006/relationships/notesMaster" Target="/ppt/notesMasters/notesMaster1.xml" Id="Rfc377f88f38647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997d82b19b468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8af4477bbbe4eaa" /><Relationship Type="http://schemas.openxmlformats.org/officeDocument/2006/relationships/slideLayout" Target="/ppt/slideLayouts/slideLayout1.xml" Id="Re078359b2d544d1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78359b2d544d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b697af2b6d4981" /><Relationship Type="http://schemas.openxmlformats.org/officeDocument/2006/relationships/notesSlide" Target="/ppt/notesSlides/notesSlide1.xml" Id="R819056bcb45c4bb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2f8ed4354b443d" /><Relationship Type="http://schemas.openxmlformats.org/officeDocument/2006/relationships/notesSlide" Target="/ppt/notesSlides/notesSlide2.xml" Id="Rb2356d4799694cd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b50a333f72451b" /><Relationship Type="http://schemas.openxmlformats.org/officeDocument/2006/relationships/notesSlide" Target="/ppt/notesSlides/notesSlide3.xml" Id="R35a728b2ce33443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944e220b7143d3" /><Relationship Type="http://schemas.openxmlformats.org/officeDocument/2006/relationships/notesSlide" Target="/ppt/notesSlides/notesSlide4.xml" Id="R1230a65e33ae4de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ab6badadb74ed9" /><Relationship Type="http://schemas.openxmlformats.org/officeDocument/2006/relationships/notesSlide" Target="/ppt/notesSlides/notesSlide5.xml" Id="R02b645130937490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00ad8dc4db4825" /><Relationship Type="http://schemas.openxmlformats.org/officeDocument/2006/relationships/notesSlide" Target="/ppt/notesSlides/notesSlide6.xml" Id="R51f380e353f549a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61028901a44f11" /><Relationship Type="http://schemas.openxmlformats.org/officeDocument/2006/relationships/notesSlide" Target="/ppt/notesSlides/notesSlide7.xml" Id="Rabac32e6bdfc4c6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5B8233-5583-4914-B88C-8AE6CA96E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TOPIC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0145C7-346A-4F90-8688-E85FE7F5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7810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00000"/>
                </a:solidFill>
              </a:defRPr>
            </a:pPr>
            <a:r>
              <a:rPr sz="4350" b="1">
                <a:solidFill>
                  <a:srgbClr val="000000"/>
                </a:solidFill>
              </a:rPr>
              <a:t>Content Management in Health Care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0D00C8-8331-4ADC-951B-6ACD6201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24150"/>
            <a:ext cx="590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55555"/>
                </a:solidFill>
              </a:defRPr>
            </a:pPr>
            <a:r>
              <a:rPr sz="1875" b="0">
                <a:solidFill>
                  <a:srgbClr val="555555"/>
                </a:solidFill>
              </a:rPr>
              <a:t>A strategy brief and proof of concept for converting policy text into traceable payment operations.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4CB338-4548-4576-9A36-7C331C4D6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876300"/>
            <a:ext cx="3905250" cy="443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FA0C70-9341-4F39-82F5-D011E825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276350"/>
            <a:ext cx="1428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F982DE-DD2A-4D8C-BF66-A338AE644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447800"/>
            <a:ext cx="1009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4B2D83"/>
                </a:solidFill>
              </a:defRPr>
            </a:pPr>
            <a:r>
              <a:rPr sz="2850" b="1">
                <a:solidFill>
                  <a:srgbClr val="4B2D83"/>
                </a:solidFill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C7D2EC-04D8-4AC2-AAED-D09E60529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57400"/>
            <a:ext cx="100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report pages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56DE0C-02EE-4552-BCBF-82266A17F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276350"/>
            <a:ext cx="1428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5FD8D1-672F-45A5-A554-B04007C55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447800"/>
            <a:ext cx="1009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7A75"/>
                </a:solidFill>
              </a:defRPr>
            </a:pPr>
            <a:r>
              <a:rPr sz="2850" b="1">
                <a:solidFill>
                  <a:srgbClr val="0B7A75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960F67-B64E-4479-B10F-CCBD40554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057400"/>
            <a:ext cx="100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working POC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AA3D97-6845-4387-B64F-8E5B6129C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71800"/>
            <a:ext cx="1428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73ECFD-E894-460B-90A3-E21C0865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43250"/>
            <a:ext cx="1009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6B35"/>
                </a:solidFill>
              </a:defRPr>
            </a:pPr>
            <a:r>
              <a:rPr sz="2850" b="1">
                <a:solidFill>
                  <a:srgbClr val="FF6B35"/>
                </a:solidFill>
              </a:rPr>
              <a:t>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B9BA2C-51E3-4E9D-9B7D-A834535D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52850"/>
            <a:ext cx="100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deck slides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98FA02-106B-42A3-9109-B59E9A62D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971800"/>
            <a:ext cx="1428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27E5F2-8518-49EE-8D60-2F47C2B6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143250"/>
            <a:ext cx="1009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MP4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23CFDB-A4F9-4013-8A48-B461A82D7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752850"/>
            <a:ext cx="100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recording guide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473DB7-E263-403F-AD83-483A09E7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62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061994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2A0E28-1575-4F68-AB2E-507CB9EC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COTIVITI INTERN ASSESSMENT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2B5BD4-CE33-48E2-A586-88487DEE6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7810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00000"/>
                </a:solidFill>
              </a:defRPr>
            </a:pPr>
            <a:r>
              <a:rPr sz="3750" b="1">
                <a:solidFill>
                  <a:srgbClr val="000000"/>
                </a:solidFill>
              </a:rPr>
              <a:t>The knowledge layer behind claims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12A75E-A50B-4DAE-83FE-E75EC580E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0"/>
            <a:ext cx="685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Policy content becomes operationally valuable when it is versioned, comparable, computable, and auditable.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F46DC4-8F7B-4957-81D4-CF4D60C3D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0"/>
            <a:ext cx="3352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186390-7544-494B-B20F-9B08CD6E8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29000"/>
            <a:ext cx="3352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37B1A1-9BE9-4C53-BCE5-3AB595E0B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29000"/>
            <a:ext cx="3352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E11401-B598-493D-A423-D9FBA7877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Static content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F9D7C6-26D9-4A67-AD9C-120D85C46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29100"/>
            <a:ext cx="2628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Policies, contracts, guidelines, coding manuals, and reviewer notes.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51EF19-7E73-41EB-B85B-C9B1EE5B4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147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Managed knowledge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4E7578-406F-48C0-91B3-F04DE792A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229100"/>
            <a:ext cx="2609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Version history, source clauses, owner approval, and change summaries.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143ED8-1CAF-468B-B6C0-2A404692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7147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Operational logic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13307C-67FF-4DDC-A7AC-1002FEEAB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229100"/>
            <a:ext cx="2628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Rules, features, models, tests, and claim-routing decisions.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91D8A7-11A2-4C31-BF76-778290D35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7DCCC5-9BB5-4041-9447-B426AB18F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674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Strategic implication: Cotiviti can own the bridge between written policy and defensible automation.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CE9EEE-925A-4B71-8E44-0C6FF77E4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62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041223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9E7DD5-8BF2-4758-8B9A-B1DA78FF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COTIVITI INTERN ASSESSMENT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806FDB-F34A-48C7-B576-1A411772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7810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00000"/>
                </a:solidFill>
              </a:defRPr>
            </a:pPr>
            <a:r>
              <a:rPr sz="3750" b="1">
                <a:solidFill>
                  <a:srgbClr val="000000"/>
                </a:solidFill>
              </a:rPr>
              <a:t>Four trends make policy intelligence timely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EA3234-BD5D-4478-A215-CE15E04E9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14600"/>
            <a:ext cx="25717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CF36CC-DE81-4B62-99D3-07C45F58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B2D83"/>
                </a:solidFill>
              </a:defRPr>
            </a:pPr>
            <a:r>
              <a:rPr sz="1650" b="1">
                <a:solidFill>
                  <a:srgbClr val="4B2D83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FA5EC5-1B36-41B3-A967-07559775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Administrative APIs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7ACF70-1B94-4D70-B79E-C4B2BF4F0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219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Prior authorization and status workflows are moving toward structured exchange.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246807-7EE6-4936-87EA-A7A281CEA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14600"/>
            <a:ext cx="25717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68CC0A-085A-46F5-A851-F9F2F92DE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860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7A75"/>
                </a:solidFill>
              </a:defRPr>
            </a:pPr>
            <a:r>
              <a:rPr sz="1650" b="1">
                <a:solidFill>
                  <a:srgbClr val="0B7A75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4C7D51-B2C5-4EFD-A4B0-47CE7BC11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861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Coding edit churn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B7277B-2B5C-4721-B98E-C890DC858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14750"/>
            <a:ext cx="219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Payment logic changes frequently and must be tested before production use.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24F416-219D-475C-8C98-0BF4F9CC9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14600"/>
            <a:ext cx="25717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BA0967-7769-4FAE-ABAB-30847DFD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860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7AE085-DF9D-4FFF-9747-F16078D38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861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Computable guidelines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9042A2-95D6-4BEB-A35D-34DE6A85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14750"/>
            <a:ext cx="219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FHIR and clinical reasoning standards make policy-as-logic more practical.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6647A6-0DFE-422C-B8C7-693B61ADA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14600"/>
            <a:ext cx="25717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498499-FA58-4492-A198-F4A9E177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860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18"/>
                </a:solidFill>
              </a:defRPr>
            </a:pPr>
            <a:r>
              <a:rPr sz="1650" b="1">
                <a:solidFill>
                  <a:srgbClr val="B42318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7E217F-D52C-41A4-B136-692C0026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861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AI governance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B7D5CD-F72F-4CF4-867C-D20F8F664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714750"/>
            <a:ext cx="219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LLM summarization is useful only when paired with traceability and review.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79F024-D8AA-4502-816B-0394386EC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62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840364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00D2C2-DB8E-4F58-8965-6170DFBA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COTIVITI INTERN ASSESSMENT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5B4730-FCE4-48E9-A017-0C696B4E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7810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00000"/>
                </a:solidFill>
              </a:defRPr>
            </a:pPr>
            <a:r>
              <a:rPr sz="3750" b="1">
                <a:solidFill>
                  <a:srgbClr val="000000"/>
                </a:solidFill>
              </a:rPr>
              <a:t>Upside is speed; risk is ungoverned automation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0BC96B-D875-42E1-989D-ED4175F1B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33625"/>
            <a:ext cx="52197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7C7795-430C-462B-9A67-C3EEBC1C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33625"/>
            <a:ext cx="52197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B64035-D9BA-4151-BAD3-B18188FCD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98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7A75"/>
                </a:solidFill>
              </a:defRPr>
            </a:pPr>
            <a:r>
              <a:rPr sz="2550" b="1">
                <a:solidFill>
                  <a:srgbClr val="0B7A75"/>
                </a:solidFill>
              </a:rPr>
              <a:t>Opportunities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23B84D-3CE5-4D7C-AD32-A16589CB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528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D073E2-F5E7-4AB9-BBBE-4A502719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4248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Shorter policy-to-production cycle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6A62F7-05F3-4ED9-A931-7DAFEFBDA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433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AB2C39-92F6-48A8-B0D2-3C6DF85B7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4248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More consistent reviewer decisions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93DD10-E8BF-4D21-A8AD-1A03E8DE2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339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F10EDC-C613-4738-AF5F-369163BFB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57700"/>
            <a:ext cx="4248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Better audit trail for provider/member disputes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1635AB-6E96-4AC0-8FC1-31BD8C31E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244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1800DA-A946-4039-8051-E6889CAA3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48250"/>
            <a:ext cx="4248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Reusable regression tests for policy changes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51B437-4FE3-4A9A-A447-08A03AD06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098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42318"/>
                </a:solidFill>
              </a:defRPr>
            </a:pPr>
            <a:r>
              <a:rPr sz="2550" b="1">
                <a:solidFill>
                  <a:srgbClr val="B42318"/>
                </a:solidFill>
              </a:rPr>
              <a:t>Threats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4519EF-436C-4F4E-B095-5E884C4A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3528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E3BB96-131D-4C45-B183-538E30A43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76600"/>
            <a:ext cx="4248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Incorrect extraction can amplify denial errors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F092DF-4A95-4FF9-AF92-E874A11E3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9433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D198BC-5C73-4EBE-A20A-09599166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67150"/>
            <a:ext cx="4248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LLMs may miss exceptions or effective dates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A333AF-8047-4617-97DD-EBEBE3EE7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5339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B0239F-93C0-4240-889E-6EB96A8F8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57700"/>
            <a:ext cx="4248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Opaque rules reduce trust and defensibility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E41218-B615-4C53-A3A4-396193F4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1244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3C554A-578E-49D2-8AD5-4D71372B8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48250"/>
            <a:ext cx="4248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Privacy and model-risk obligations increase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B7A53C-30F7-4180-A45C-4D1E3DBE5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62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67831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BEB002-5AFF-4DC3-98C7-345B96BB3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COTIVITI INTERN ASSESSMENT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FD5D74-33C1-4BCB-BF6D-F8B17E95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7810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00000"/>
                </a:solidFill>
              </a:defRPr>
            </a:pPr>
            <a:r>
              <a:rPr sz="3750" b="1">
                <a:solidFill>
                  <a:srgbClr val="000000"/>
                </a:solidFill>
              </a:rPr>
              <a:t>Recommended strategic investments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40F23A-0F65-44A8-ADFD-AF5EF644D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24100"/>
            <a:ext cx="53149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54FD77-7613-461C-AE10-75EDD34E5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Policy-to-rule workbench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A48AD7-5CB5-4A64-BDBC-2549662DC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Compare versions, extract billing/clinical concepts, and route high-impact changes.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B4CFF5-ABB0-42D0-AF53-DF71CB9E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24100"/>
            <a:ext cx="53149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C489B2-C853-40EF-AB4E-08319D50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336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Synthetic claim test library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9F1AD6-4DAD-4646-ADE2-134589BE2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0990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Run regression checks before policy logic reaches production workflows.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E7A4B3-14A5-4108-AED0-BB565DA0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05300"/>
            <a:ext cx="53149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B20E23-B1CF-47E2-97AC-86A221C5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148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Traceability standard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67C95A-21C8-41CF-A543-F6419BD8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9110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Attach every generated summary, rule, and decision to approved source text.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B356ED-C220-4F81-BC30-82E99D10E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05300"/>
            <a:ext cx="53149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AEB99E-6466-448D-931D-D26532F1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148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Human-in-loop AI use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CC6DD8-5E1A-40FA-8577-7D29B9196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9110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Use AI for drafts and comparisons while experts approve operational activation.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B6589E-FD9A-49EE-9AC9-E3E71716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62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328347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647858-045B-489B-B11D-78CCD9B3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COTIVITI INTERN ASSESSMENT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77F788-20AB-4278-94D5-E9BCF5AD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7810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00000"/>
                </a:solidFill>
              </a:defRPr>
            </a:pPr>
            <a:r>
              <a:rPr sz="3750" b="1">
                <a:solidFill>
                  <a:srgbClr val="000000"/>
                </a:solidFill>
              </a:rPr>
              <a:t>Proof of concept: simple, inspectable, working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8A4941-3ED8-4DF8-97A6-0F947D3B6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47900"/>
            <a:ext cx="504825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ACBD43-C881-4613-9D33-8C99B8980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Demo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04AD11-AE60-4FDE-AC6C-EDFDB6681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194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AD0DDA-3D69-452B-953F-8B13EDE38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4325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Paste current and proposed policy 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4D89CA-2D25-4A12-825B-842D21B1F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7EB33E-A5A4-459F-8550-CBD6423D7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3380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Generate a change summary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99BADC-5D74-492B-BB29-DF28B37F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005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8EDDD1-ACF7-448F-8150-89EADC87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2435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Extract CPT, ICD-10, age, ASA, prior-auth, and documentation rules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D5AF14-35CD-46B5-B29D-6E84DE864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911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A93291-5603-484B-BEFD-DD7B51EC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1490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</a:rPr>
              <a:t>Evaluate a sample claim and produce JSON audit 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5247AE-795B-472E-BBF6-15BDAD57A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47900"/>
            <a:ext cx="54483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356D34-9F1B-4B2A-B86A-8CF673645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146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Sample output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8B51F3-D3A2-4DA3-8E2A-2CCBA4A93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05150"/>
            <a:ext cx="2190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DBAC19-8157-4C79-8539-21D1ADA6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276600"/>
            <a:ext cx="177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7A75"/>
                </a:solidFill>
              </a:defRPr>
            </a:pPr>
            <a:r>
              <a:rPr sz="2700" b="1">
                <a:solidFill>
                  <a:srgbClr val="0B7A75"/>
                </a:solidFill>
              </a:rPr>
              <a:t>Approve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FCC52E-4311-4CAF-93A5-7B4FC23B1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88620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Auto-approve decision for sample CPT 00811 / ICD Z12.11 claim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69CE4A-7978-4BBA-A182-5A24FAF04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105150"/>
            <a:ext cx="2190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8FF4EB-EDDC-4109-9477-31693B93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76600"/>
            <a:ext cx="1771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6B35"/>
                </a:solidFill>
              </a:defRPr>
            </a:pPr>
            <a:r>
              <a:rPr sz="2850" b="1">
                <a:solidFill>
                  <a:srgbClr val="FF6B35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23615D-9381-4F98-A2C2-00249B83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88620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change items detected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667DC3-3183-4391-A841-8817FA5E2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87680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Audit trail includes policy version, extracted rules, claim inputs, checks, and explanation.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66EDDE-4513-4CFD-97A5-104A2A21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62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694665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C84D1E-6D0C-4ABD-A0BD-3F3600D3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CLOSING POSITION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996A48-1F26-4C64-971A-2D94CC193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7048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</a:defRPr>
            </a:pPr>
            <a:r>
              <a:rPr sz="3600" b="1">
                <a:solidFill>
                  <a:srgbClr val="000000"/>
                </a:solidFill>
              </a:rPr>
              <a:t>Invest in content intelligence as a decision-support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9F44F7-CE0F-4EF3-A76A-A57C01F99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76550"/>
            <a:ext cx="704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55555"/>
                </a:solidFill>
              </a:defRPr>
            </a:pPr>
            <a:r>
              <a:rPr sz="1875" b="0">
                <a:solidFill>
                  <a:srgbClr val="555555"/>
                </a:solidFill>
              </a:rPr>
              <a:t>The winning approach is not AI instead of experts. It is faster policy operations with source-linked evidence, tests, and human approval.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14796E-CD0E-49C6-B5A7-9652F969B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333500"/>
            <a:ext cx="33528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952282-8840-46B0-A852-394A94696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383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</a:defRPr>
            </a:pPr>
            <a:r>
              <a:rPr sz="2175" b="1">
                <a:solidFill>
                  <a:srgbClr val="000000"/>
                </a:solidFill>
              </a:rPr>
              <a:t>Recording cue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661964-73F4-4DC7-A394-91582654A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90750"/>
            <a:ext cx="247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Show this deck, then screenshare the POC app and click Run demo. End with the Auto-approve audit trail.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C62088-7FEF-4A5D-89BE-AA105E871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9052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GitHub package includes DOCX, PPTX, POC code, and video script.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D6FF47-4B5C-4533-A36C-F3BB089F1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62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333395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2026-06-26T17:31:47.8820000Z</dcterms:created>
  <dcterms:modified xsi:type="dcterms:W3CDTF">2026-06-26T17:31:47.8820000Z</dcterms:modified>
</coreProperties>
</file>